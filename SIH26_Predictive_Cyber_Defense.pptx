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4572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72854"/>
                </a:solidFill>
                <a:latin typeface="Arial Narrow"/>
              </a:rPr>
              <a:t>SIH26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347472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870BC"/>
                </a:solidFill>
                <a:latin typeface="Arial Narrow"/>
              </a:rPr>
              <a:t>Predictive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91440"/>
            <a:ext cx="19202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072854"/>
                </a:solidFill>
                <a:latin typeface="Arial Narrow"/>
              </a:rPr>
              <a:t>SMART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2004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5F6970"/>
                </a:solidFill>
                <a:latin typeface="Arial Narrow"/>
              </a:rPr>
              <a:t>HACKATHON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9728"/>
            <a:ext cx="795527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600" b="1" i="0">
                <a:solidFill>
                  <a:srgbClr val="1870BC"/>
                </a:solidFill>
                <a:latin typeface="Arial Narrow"/>
              </a:rPr>
              <a:t>PREDICTIVE CYBER DEFENSE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70BC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83680"/>
            <a:ext cx="7772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 Narrow"/>
              </a:rPr>
              <a:t>@ SIH26 - PREDICTIVE CYBER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7160" y="6583680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 Narrow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960120"/>
            <a:ext cx="54864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900" b="1" i="0">
                <a:solidFill>
                  <a:srgbClr val="141414"/>
                </a:solidFill>
                <a:latin typeface="Arial"/>
              </a:rPr>
              <a:t>Problem Statement: Predict the attack before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508760"/>
            <a:ext cx="5257800" cy="141732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216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Static IDS tools report what happened; SOC teams still need to predict what happens next.</a:t>
            </a:r>
          </a:p>
          <a:p>
            <a:pPr>
              <a:spcAft>
                <a:spcPts val="216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Multi-stage campaigns evolve across time windows, assets and ATT&amp;CK stages.</a:t>
            </a:r>
          </a:p>
          <a:p>
            <a:pPr>
              <a:spcAft>
                <a:spcPts val="216"/>
              </a:spcAft>
              <a:defRPr sz="1400">
                <a:solidFill>
                  <a:srgbClr val="141414"/>
                </a:solidFill>
                <a:latin typeface="Arial"/>
              </a:defRPr>
            </a:pPr>
            <a:r>
              <a:t>• Analysts need one explainable view that connects risk, attack stage, asset criticality and action.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82112"/>
            <a:ext cx="5257800" cy="2331720"/>
          </a:xfrm>
          <a:prstGeom prst="roundRect">
            <a:avLst>
              <a:gd name="adj" fmla="val 8000"/>
            </a:avLst>
          </a:prstGeom>
          <a:solidFill>
            <a:srgbClr val="EFF9F1"/>
          </a:solidFill>
          <a:ln w="12700">
            <a:solidFill>
              <a:srgbClr val="007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36976"/>
            <a:ext cx="5074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07A37"/>
                </a:solidFill>
                <a:latin typeface="Arial Narrow"/>
              </a:rPr>
              <a:t>OUR 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3611880"/>
            <a:ext cx="4892040" cy="160020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216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A temporal World Model that learns network-state transitions.</a:t>
            </a:r>
          </a:p>
          <a:p>
            <a:pPr>
              <a:spcAft>
                <a:spcPts val="216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K-step forecasting of future risk and predicted traffic state.</a:t>
            </a:r>
          </a:p>
          <a:p>
            <a:pPr>
              <a:spcAft>
                <a:spcPts val="216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MITRE ATT&amp;CK mapping, GradientShap explanation and SOC playbook prioritization.</a:t>
            </a:r>
          </a:p>
          <a:p>
            <a:pPr>
              <a:spcAft>
                <a:spcPts val="216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Local, containerized inference for sensitive CII and air-gapped environments.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097280"/>
            <a:ext cx="5074920" cy="438912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371600"/>
            <a:ext cx="452628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700" b="1" i="0">
                <a:solidFill>
                  <a:srgbClr val="072854"/>
                </a:solidFill>
                <a:latin typeface="Arial Narrow"/>
              </a:rPr>
              <a:t>FROM TELEMETRY TO DECISION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2240280"/>
            <a:ext cx="1280160" cy="1051560"/>
          </a:xfrm>
          <a:prstGeom prst="roundRect">
            <a:avLst>
              <a:gd name="adj" fmla="val 8000"/>
            </a:avLst>
          </a:prstGeom>
          <a:solidFill>
            <a:srgbClr val="1870BC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2487168"/>
            <a:ext cx="1133856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Narrow"/>
              </a:rPr>
              <a:t>NETWORK
TELEMETRY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19288" y="2761488"/>
            <a:ext cx="256031" cy="0"/>
          </a:xfrm>
          <a:prstGeom prst="line">
            <a:avLst/>
          </a:prstGeom>
          <a:ln w="25400">
            <a:solidFill>
              <a:srgbClr val="072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321040" y="2240280"/>
            <a:ext cx="1280160" cy="1051560"/>
          </a:xfrm>
          <a:prstGeom prst="roundRect">
            <a:avLst>
              <a:gd name="adj" fmla="val 8000"/>
            </a:avLst>
          </a:prstGeom>
          <a:solidFill>
            <a:srgbClr val="FF993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2487168"/>
            <a:ext cx="1133856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Narrow"/>
              </a:rPr>
              <a:t>WORLD MODEL
FORECAST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19488" y="2761488"/>
            <a:ext cx="256031" cy="0"/>
          </a:xfrm>
          <a:prstGeom prst="line">
            <a:avLst/>
          </a:prstGeom>
          <a:ln w="25400">
            <a:solidFill>
              <a:srgbClr val="072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921240" y="2240280"/>
            <a:ext cx="1280160" cy="1051560"/>
          </a:xfrm>
          <a:prstGeom prst="roundRect">
            <a:avLst>
              <a:gd name="adj" fmla="val 8000"/>
            </a:avLst>
          </a:prstGeom>
          <a:solidFill>
            <a:srgbClr val="007A37"/>
          </a:solidFill>
          <a:ln w="12700">
            <a:solidFill>
              <a:srgbClr val="007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994392" y="2487168"/>
            <a:ext cx="1133856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 Narrow"/>
              </a:rPr>
              <a:t>SOC ACTION
PRIORITY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3794760"/>
            <a:ext cx="4480560" cy="10515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500" b="1" i="0">
                <a:solidFill>
                  <a:srgbClr val="072854"/>
                </a:solidFill>
                <a:latin typeface="Arial"/>
              </a:rPr>
              <a:t>A working FastAPI + Next.js prototype that turns network behavior into an auditable, explainable response workflow.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007A37"/>
                </a:solidFill>
                <a:latin typeface="Arial"/>
              </a:rPr>
              <a:t>Theme: Software   |   Focus: National cyber resilience, predictive SOC operations, critical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4572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72854"/>
                </a:solidFill>
                <a:latin typeface="Arial Narrow"/>
              </a:rPr>
              <a:t>SIH26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347472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870BC"/>
                </a:solidFill>
                <a:latin typeface="Arial Narrow"/>
              </a:rPr>
              <a:t>Predictive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91440"/>
            <a:ext cx="19202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072854"/>
                </a:solidFill>
                <a:latin typeface="Arial Narrow"/>
              </a:rPr>
              <a:t>SMART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2004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5F6970"/>
                </a:solidFill>
                <a:latin typeface="Arial Narrow"/>
              </a:rPr>
              <a:t>HACKATHON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9728"/>
            <a:ext cx="795527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600" b="1" i="0">
                <a:solidFill>
                  <a:srgbClr val="1870BC"/>
                </a:solidFill>
                <a:latin typeface="Arial Narrow"/>
              </a:rPr>
              <a:t>SOLUTION &amp;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70BC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83680"/>
            <a:ext cx="7772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 Narrow"/>
              </a:rPr>
              <a:t>@ SIH26 - PREDICTIVE CYBER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7160" y="6583680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 Narrow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868680"/>
            <a:ext cx="4937760" cy="1353312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923544"/>
            <a:ext cx="4754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9933"/>
                </a:solidFill>
                <a:latin typeface="Arial Narrow"/>
              </a:rPr>
              <a:t>PROBLEM EXISTING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261872"/>
            <a:ext cx="4617720" cy="804672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216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• Alerts are point-in-time and noisy.</a:t>
            </a:r>
          </a:p>
          <a:p>
            <a:pPr>
              <a:spcAft>
                <a:spcPts val="216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• Risk is disconnected from asset importance.</a:t>
            </a:r>
          </a:p>
          <a:p>
            <a:pPr>
              <a:spcAft>
                <a:spcPts val="216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• Analyst decisions are difficult to explain and audit.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2359152"/>
            <a:ext cx="4937760" cy="1627632"/>
          </a:xfrm>
          <a:prstGeom prst="roundRect">
            <a:avLst>
              <a:gd name="adj" fmla="val 8000"/>
            </a:avLst>
          </a:prstGeom>
          <a:solidFill>
            <a:srgbClr val="EFF9F1"/>
          </a:solidFill>
          <a:ln w="12700">
            <a:solidFill>
              <a:srgbClr val="007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79" y="2414016"/>
            <a:ext cx="4754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07A37"/>
                </a:solidFill>
                <a:latin typeface="Arial Narrow"/>
              </a:rPr>
              <a:t>PROPOSED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2743200"/>
            <a:ext cx="4617720" cy="1024128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216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• CSV/PCAP telemetry becomes 10-second state windows.</a:t>
            </a:r>
          </a:p>
          <a:p>
            <a:pPr>
              <a:spcAft>
                <a:spcPts val="216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• LSTM World Model rolls the state forward K steps.</a:t>
            </a:r>
          </a:p>
          <a:p>
            <a:pPr>
              <a:spcAft>
                <a:spcPts val="216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• ATT&amp;CK + XAI + SOC priority convert prediction into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" y="4133087"/>
            <a:ext cx="4937760" cy="1389888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79" y="4187951"/>
            <a:ext cx="4754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870BC"/>
                </a:solidFill>
                <a:latin typeface="Arial Narrow"/>
              </a:rPr>
              <a:t>UNIQUE VALUE PROPOSITION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507992"/>
            <a:ext cx="4617720" cy="82296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216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• Forecast lead time, not just detection.</a:t>
            </a:r>
          </a:p>
          <a:p>
            <a:pPr>
              <a:spcAft>
                <a:spcPts val="216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• One analyst workflow from signal to response.</a:t>
            </a:r>
          </a:p>
          <a:p>
            <a:pPr>
              <a:spcAft>
                <a:spcPts val="216"/>
              </a:spcAft>
              <a:defRPr sz="1100">
                <a:solidFill>
                  <a:srgbClr val="141414"/>
                </a:solidFill>
                <a:latin typeface="Arial"/>
              </a:defRPr>
            </a:pPr>
            <a:r>
              <a:t>• Local inference with browser audit history.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532120" y="868680"/>
            <a:ext cx="630936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72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987552"/>
            <a:ext cx="58978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072854"/>
                </a:solidFill>
                <a:latin typeface="Arial Narrow"/>
              </a:rPr>
              <a:t>ARCHITECTURE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06440" y="1828800"/>
            <a:ext cx="1280160" cy="749808"/>
          </a:xfrm>
          <a:prstGeom prst="roundRect">
            <a:avLst>
              <a:gd name="adj" fmla="val 8000"/>
            </a:avLst>
          </a:prstGeom>
          <a:solidFill>
            <a:srgbClr val="1870BC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43016" y="1975104"/>
            <a:ext cx="1207008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 Narrow"/>
              </a:rPr>
              <a:t>CSV / PCAP
UPLOAD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1828800"/>
            <a:ext cx="1280160" cy="749808"/>
          </a:xfrm>
          <a:prstGeom prst="roundRect">
            <a:avLst>
              <a:gd name="adj" fmla="val 8000"/>
            </a:avLst>
          </a:prstGeom>
          <a:solidFill>
            <a:srgbClr val="FF993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1775" y="1975104"/>
            <a:ext cx="1207008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 Narrow"/>
              </a:rPr>
              <a:t>PARSER
10s WINDOWS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23960" y="1828800"/>
            <a:ext cx="1280160" cy="749808"/>
          </a:xfrm>
          <a:prstGeom prst="roundRect">
            <a:avLst>
              <a:gd name="adj" fmla="val 8000"/>
            </a:avLst>
          </a:prstGeom>
          <a:solidFill>
            <a:srgbClr val="072854"/>
          </a:solidFill>
          <a:ln w="12700">
            <a:solidFill>
              <a:srgbClr val="0728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0536" y="1975104"/>
            <a:ext cx="1207008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 Narrow"/>
              </a:rPr>
              <a:t>PYTORCH
WORLD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332720" y="1828800"/>
            <a:ext cx="1280160" cy="749808"/>
          </a:xfrm>
          <a:prstGeom prst="roundRect">
            <a:avLst>
              <a:gd name="adj" fmla="val 8000"/>
            </a:avLst>
          </a:prstGeom>
          <a:solidFill>
            <a:srgbClr val="007A37"/>
          </a:solidFill>
          <a:ln w="12700">
            <a:solidFill>
              <a:srgbClr val="007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369296" y="1975104"/>
            <a:ext cx="1207008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 Narrow"/>
              </a:rPr>
              <a:t>K-STEP
FORECAST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114032" y="2203704"/>
            <a:ext cx="182880" cy="0"/>
          </a:xfrm>
          <a:prstGeom prst="line">
            <a:avLst/>
          </a:prstGeom>
          <a:ln w="25400">
            <a:solidFill>
              <a:srgbClr val="072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622792" y="2203704"/>
            <a:ext cx="182880" cy="0"/>
          </a:xfrm>
          <a:prstGeom prst="line">
            <a:avLst/>
          </a:prstGeom>
          <a:ln w="25400">
            <a:solidFill>
              <a:srgbClr val="072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131552" y="2203704"/>
            <a:ext cx="182880" cy="0"/>
          </a:xfrm>
          <a:prstGeom prst="line">
            <a:avLst/>
          </a:prstGeom>
          <a:ln w="25400">
            <a:solidFill>
              <a:srgbClr val="072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492240" y="333756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59" y="3502152"/>
            <a:ext cx="1234440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1870BC"/>
                </a:solidFill>
                <a:latin typeface="Arial Narrow"/>
              </a:rPr>
              <a:t>MITRE
STAGE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33756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83880" y="3502152"/>
            <a:ext cx="1234440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FF9933"/>
                </a:solidFill>
                <a:latin typeface="Arial Narrow"/>
              </a:rPr>
              <a:t>XAI
DRIVERS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3337560"/>
            <a:ext cx="1325880" cy="777240"/>
          </a:xfrm>
          <a:prstGeom prst="roundRect">
            <a:avLst>
              <a:gd name="adj" fmla="val 8000"/>
            </a:avLst>
          </a:prstGeom>
          <a:solidFill>
            <a:srgbClr val="EFF9F1"/>
          </a:solidFill>
          <a:ln w="12700">
            <a:solidFill>
              <a:srgbClr val="007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29800" y="3502152"/>
            <a:ext cx="1234440" cy="3931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/>
            <a:r>
              <a:rPr sz="1000" b="1" i="0">
                <a:solidFill>
                  <a:srgbClr val="007A37"/>
                </a:solidFill>
                <a:latin typeface="Arial Narrow"/>
              </a:rPr>
              <a:t>SOC
PRIORITY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7178040" y="2596896"/>
            <a:ext cx="2240280" cy="722376"/>
          </a:xfrm>
          <a:prstGeom prst="line">
            <a:avLst/>
          </a:prstGeom>
          <a:ln w="19050">
            <a:solidFill>
              <a:srgbClr val="187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8796528" y="2596896"/>
            <a:ext cx="621792" cy="722376"/>
          </a:xfrm>
          <a:prstGeom prst="line">
            <a:avLst/>
          </a:prstGeom>
          <a:ln w="19050">
            <a:solidFill>
              <a:srgbClr val="FF9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0424160" y="2596896"/>
            <a:ext cx="502920" cy="722376"/>
          </a:xfrm>
          <a:prstGeom prst="line">
            <a:avLst/>
          </a:prstGeom>
          <a:ln w="19050">
            <a:solidFill>
              <a:srgbClr val="007A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943600" y="4663440"/>
            <a:ext cx="5394960" cy="54864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4800600"/>
            <a:ext cx="5120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072854"/>
                </a:solidFill>
                <a:latin typeface="Arial"/>
              </a:rPr>
              <a:t>Next.js SOC dashboard  ↔  FastAPI REST API  ↔  PyTorch inference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4572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72854"/>
                </a:solidFill>
                <a:latin typeface="Arial Narrow"/>
              </a:rPr>
              <a:t>SIH26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347472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870BC"/>
                </a:solidFill>
                <a:latin typeface="Arial Narrow"/>
              </a:rPr>
              <a:t>Predictive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91440"/>
            <a:ext cx="19202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072854"/>
                </a:solidFill>
                <a:latin typeface="Arial Narrow"/>
              </a:rPr>
              <a:t>SMART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2004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5F6970"/>
                </a:solidFill>
                <a:latin typeface="Arial Narrow"/>
              </a:rPr>
              <a:t>HACKATHON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9728"/>
            <a:ext cx="795527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600" b="1" i="0">
                <a:solidFill>
                  <a:srgbClr val="1870BC"/>
                </a:solidFill>
                <a:latin typeface="Arial Narrow"/>
              </a:rPr>
              <a:t>TECHNICAL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70BC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83680"/>
            <a:ext cx="7772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 Narrow"/>
              </a:rPr>
              <a:t>@ SIH26 - PREDICTIVE CYBER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7160" y="6583680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 Narrow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804672"/>
            <a:ext cx="11430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072854"/>
                </a:solidFill>
                <a:latin typeface="Arial"/>
              </a:rPr>
              <a:t>The system learns how a network state changes over time, then simulates the next K states.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" y="1243584"/>
            <a:ext cx="6583680" cy="4498848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389888"/>
            <a:ext cx="61264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400" b="1" i="0">
                <a:solidFill>
                  <a:srgbClr val="1870BC"/>
                </a:solidFill>
                <a:latin typeface="Arial Narrow"/>
              </a:rPr>
              <a:t>MODEL PIPELINE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1810512"/>
            <a:ext cx="393192" cy="393192"/>
          </a:xfrm>
          <a:prstGeom prst="roundRect">
            <a:avLst>
              <a:gd name="adj" fmla="val 8000"/>
            </a:avLst>
          </a:prstGeom>
          <a:solidFill>
            <a:srgbClr val="FF993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874519"/>
            <a:ext cx="39319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1792224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72854"/>
                </a:solidFill>
                <a:latin typeface="Arial"/>
              </a:rPr>
              <a:t>Feature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1792224"/>
            <a:ext cx="34290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41414"/>
                </a:solidFill>
                <a:latin typeface="Arial"/>
              </a:rPr>
              <a:t>25 telemetry features per 10-second window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0392" y="2212848"/>
            <a:ext cx="0" cy="256032"/>
          </a:xfrm>
          <a:prstGeom prst="line">
            <a:avLst/>
          </a:prstGeom>
          <a:ln w="19050">
            <a:solidFill>
              <a:srgbClr val="187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58368" y="2523744"/>
            <a:ext cx="393192" cy="393192"/>
          </a:xfrm>
          <a:prstGeom prst="roundRect">
            <a:avLst>
              <a:gd name="adj" fmla="val 8000"/>
            </a:avLst>
          </a:prstGeom>
          <a:solidFill>
            <a:srgbClr val="FF993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2587751"/>
            <a:ext cx="39319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2505456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72854"/>
                </a:solidFill>
                <a:latin typeface="Arial"/>
              </a:rPr>
              <a:t>Temporal memory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2505456"/>
            <a:ext cx="34290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41414"/>
                </a:solidFill>
                <a:latin typeface="Arial"/>
              </a:rPr>
              <a:t>2-layer LSTM, hidden dimension 64, history length 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50392" y="2926079"/>
            <a:ext cx="0" cy="256032"/>
          </a:xfrm>
          <a:prstGeom prst="line">
            <a:avLst/>
          </a:prstGeom>
          <a:ln w="19050">
            <a:solidFill>
              <a:srgbClr val="187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58368" y="3236976"/>
            <a:ext cx="393192" cy="393192"/>
          </a:xfrm>
          <a:prstGeom prst="roundRect">
            <a:avLst>
              <a:gd name="adj" fmla="val 8000"/>
            </a:avLst>
          </a:prstGeom>
          <a:solidFill>
            <a:srgbClr val="FF993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3300984"/>
            <a:ext cx="39319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218688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72854"/>
                </a:solidFill>
                <a:latin typeface="Arial"/>
              </a:rPr>
              <a:t>Dual prediction heads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3218688"/>
            <a:ext cx="34290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41414"/>
                </a:solidFill>
                <a:latin typeface="Arial"/>
              </a:rPr>
              <a:t>Next-state decoder + attack risk head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0392" y="3639312"/>
            <a:ext cx="0" cy="256032"/>
          </a:xfrm>
          <a:prstGeom prst="line">
            <a:avLst/>
          </a:prstGeom>
          <a:ln w="19050">
            <a:solidFill>
              <a:srgbClr val="187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58368" y="3950208"/>
            <a:ext cx="393192" cy="393192"/>
          </a:xfrm>
          <a:prstGeom prst="roundRect">
            <a:avLst>
              <a:gd name="adj" fmla="val 8000"/>
            </a:avLst>
          </a:prstGeom>
          <a:solidFill>
            <a:srgbClr val="FF993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4014216"/>
            <a:ext cx="39319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34440" y="3931920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72854"/>
                </a:solidFill>
                <a:latin typeface="Arial"/>
              </a:rPr>
              <a:t>Autoregressive rollout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3931920"/>
            <a:ext cx="34290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41414"/>
                </a:solidFill>
                <a:latin typeface="Arial"/>
              </a:rPr>
              <a:t>Predicted state feeds the next future step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50392" y="4352544"/>
            <a:ext cx="0" cy="256032"/>
          </a:xfrm>
          <a:prstGeom prst="line">
            <a:avLst/>
          </a:prstGeom>
          <a:ln w="19050">
            <a:solidFill>
              <a:srgbClr val="1870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8368" y="4663440"/>
            <a:ext cx="393192" cy="393192"/>
          </a:xfrm>
          <a:prstGeom prst="roundRect">
            <a:avLst>
              <a:gd name="adj" fmla="val 8000"/>
            </a:avLst>
          </a:prstGeom>
          <a:solidFill>
            <a:srgbClr val="007A37"/>
          </a:solidFill>
          <a:ln w="12700">
            <a:solidFill>
              <a:srgbClr val="007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4727448"/>
            <a:ext cx="393192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34440" y="4645152"/>
            <a:ext cx="1920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100" b="1" i="0">
                <a:solidFill>
                  <a:srgbClr val="072854"/>
                </a:solidFill>
                <a:latin typeface="Arial"/>
              </a:rPr>
              <a:t>Decision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4645152"/>
            <a:ext cx="3429000" cy="3291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41414"/>
                </a:solidFill>
                <a:latin typeface="Arial"/>
              </a:rPr>
              <a:t>ATT&amp;CK stage, XAI drivers, asset-aware priority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05472" y="1243584"/>
            <a:ext cx="4617720" cy="1298448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96912" y="1298448"/>
            <a:ext cx="4434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9933"/>
                </a:solidFill>
                <a:latin typeface="Arial Narrow"/>
              </a:rPr>
              <a:t>INPUT REPRESENTATION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8352" y="1664208"/>
            <a:ext cx="4251960" cy="6400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Flow count, packets, bytes, TCP flags, IAT, TTL, IP/port diversity, scan and high-port signals.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205472" y="2724912"/>
            <a:ext cx="4617720" cy="1298448"/>
          </a:xfrm>
          <a:prstGeom prst="roundRect">
            <a:avLst>
              <a:gd name="adj" fmla="val 8000"/>
            </a:avLst>
          </a:prstGeom>
          <a:solidFill>
            <a:srgbClr val="EFF9F1"/>
          </a:solidFill>
          <a:ln w="12700">
            <a:solidFill>
              <a:srgbClr val="007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96912" y="2779776"/>
            <a:ext cx="4434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07A37"/>
                </a:solidFill>
                <a:latin typeface="Arial Narrow"/>
              </a:rPr>
              <a:t>EXPLAINABILITY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88352" y="3145536"/>
            <a:ext cx="4251960" cy="6400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Captum GradientShap returns top feature attributions and a human-readable SOC narrative.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205472" y="4206240"/>
            <a:ext cx="4617720" cy="1536192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96912" y="4261103"/>
            <a:ext cx="4434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870BC"/>
                </a:solidFill>
                <a:latin typeface="Arial Narrow"/>
              </a:rPr>
              <a:t>TRAINING &amp; EVALUATION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88352" y="4599432"/>
            <a:ext cx="4251960" cy="932688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Standardized states; MSE state loss + weighted BCE risk loss.</a:t>
            </a:r>
          </a:p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Chronological campaign grouping and Logistic Regression baseline.</a:t>
            </a:r>
          </a:p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K-horizon evaluation includes F1, precision, recall, FPR and lead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4572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72854"/>
                </a:solidFill>
                <a:latin typeface="Arial Narrow"/>
              </a:rPr>
              <a:t>SIH26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347472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870BC"/>
                </a:solidFill>
                <a:latin typeface="Arial Narrow"/>
              </a:rPr>
              <a:t>Predictive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91440"/>
            <a:ext cx="19202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072854"/>
                </a:solidFill>
                <a:latin typeface="Arial Narrow"/>
              </a:rPr>
              <a:t>SMART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2004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5F6970"/>
                </a:solidFill>
                <a:latin typeface="Arial Narrow"/>
              </a:rPr>
              <a:t>HACKATHON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9728"/>
            <a:ext cx="795527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600" b="1" i="0">
                <a:solidFill>
                  <a:srgbClr val="1870BC"/>
                </a:solidFill>
                <a:latin typeface="Arial Narrow"/>
              </a:rPr>
              <a:t>FEASIBILITY &amp; VIABILITY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70BC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83680"/>
            <a:ext cx="7772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 Narrow"/>
              </a:rPr>
              <a:t>@ SIH26 - PREDICTIVE CYBER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7160" y="6583680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 Narrow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841248"/>
            <a:ext cx="5532120" cy="2852928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896112"/>
            <a:ext cx="5349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870BC"/>
                </a:solidFill>
                <a:latin typeface="Arial Narrow"/>
              </a:rPr>
              <a:t>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261872"/>
            <a:ext cx="5074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72854"/>
                </a:solidFill>
                <a:latin typeface="Arial"/>
              </a:rPr>
              <a:t>Technical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600200"/>
            <a:ext cx="4892040" cy="658368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FastAPI + PyTorch + Next.js stack is implemented and containerized.</a:t>
            </a:r>
          </a:p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Runs on CPU or CUDA; model loads at service startup.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2359152"/>
            <a:ext cx="5074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72854"/>
                </a:solidFill>
                <a:latin typeface="Arial"/>
              </a:rPr>
              <a:t>Operational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697480"/>
            <a:ext cx="4892040" cy="658368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Docker Compose exposes the dashboard on 3000 and API on 8000.</a:t>
            </a:r>
          </a:p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Local inference avoids request-time cloud dependency for sensitive networks.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841248"/>
            <a:ext cx="5559552" cy="2852928"/>
          </a:xfrm>
          <a:prstGeom prst="roundRect">
            <a:avLst>
              <a:gd name="adj" fmla="val 8000"/>
            </a:avLst>
          </a:prstGeom>
          <a:solidFill>
            <a:srgbClr val="EFF9F1"/>
          </a:solidFill>
          <a:ln w="12700">
            <a:solidFill>
              <a:srgbClr val="007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896112"/>
            <a:ext cx="537667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07A37"/>
                </a:solidFill>
                <a:latin typeface="Arial Narrow"/>
              </a:rPr>
              <a:t>VIABILITY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1261872"/>
            <a:ext cx="5074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7A37"/>
                </a:solidFill>
                <a:latin typeface="Arial"/>
              </a:rPr>
              <a:t>Who benefits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1600200"/>
            <a:ext cx="4937760" cy="658368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SOC analysts receive lead time and a recommended playbook.</a:t>
            </a:r>
          </a:p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CII operators get asset-criticality-aware prioritization.</a:t>
            </a:r>
          </a:p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Security leadership gets an auditable decision trail.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359152"/>
            <a:ext cx="507492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 i="0">
                <a:solidFill>
                  <a:srgbClr val="007A37"/>
                </a:solidFill>
                <a:latin typeface="Arial"/>
              </a:rPr>
              <a:t>Deployment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2697480"/>
            <a:ext cx="4937760" cy="658368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Cloud can train; protected on-prem environments can run inference.</a:t>
            </a:r>
          </a:p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Architecture leaves room for SOAR, EDR and firewall adapters.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" y="4041648"/>
            <a:ext cx="112471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072854"/>
                </a:solidFill>
                <a:latin typeface="Arial Narrow"/>
              </a:rPr>
              <a:t>CURRENT CHALLENGES &amp; MITIGATION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4443984"/>
            <a:ext cx="3547872" cy="141732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4498848"/>
            <a:ext cx="336499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9933"/>
                </a:solidFill>
                <a:latin typeface="Arial Narrow"/>
              </a:rPr>
              <a:t>DATA REALISM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828032"/>
            <a:ext cx="3182112" cy="749808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Validate artifact provenance.</a:t>
            </a:r>
          </a:p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Disclose packet-level defaults.</a:t>
            </a:r>
          </a:p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Retrain on verified real traffic.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15968" y="4443984"/>
            <a:ext cx="3547872" cy="141732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07407" y="4498848"/>
            <a:ext cx="336499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9933"/>
                </a:solidFill>
                <a:latin typeface="Arial Narrow"/>
              </a:rPr>
              <a:t>PRODUCTION HARDENING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828032"/>
            <a:ext cx="3182112" cy="749808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Version model manifests.</a:t>
            </a:r>
          </a:p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Add async upload jobs.</a:t>
            </a:r>
          </a:p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Add rate limiting and auth.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47888" y="4443984"/>
            <a:ext cx="3547872" cy="141732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7" y="4498848"/>
            <a:ext cx="3364991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9933"/>
                </a:solidFill>
                <a:latin typeface="Arial Narrow"/>
              </a:rPr>
              <a:t>ACTION INTEGRATION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30768" y="4828032"/>
            <a:ext cx="3182112" cy="749808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Connect real EDR/SOAR.</a:t>
            </a:r>
          </a:p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Replace simulator actions.</a:t>
            </a:r>
          </a:p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Keep human approval in loop.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4572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72854"/>
                </a:solidFill>
                <a:latin typeface="Arial Narrow"/>
              </a:rPr>
              <a:t>SIH26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347472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870BC"/>
                </a:solidFill>
                <a:latin typeface="Arial Narrow"/>
              </a:rPr>
              <a:t>Predictive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91440"/>
            <a:ext cx="19202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072854"/>
                </a:solidFill>
                <a:latin typeface="Arial Narrow"/>
              </a:rPr>
              <a:t>SMART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2004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5F6970"/>
                </a:solidFill>
                <a:latin typeface="Arial Narrow"/>
              </a:rPr>
              <a:t>HACKATHON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9728"/>
            <a:ext cx="795527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600" b="1" i="0">
                <a:solidFill>
                  <a:srgbClr val="1870BC"/>
                </a:solidFill>
                <a:latin typeface="Arial Narrow"/>
              </a:rPr>
              <a:t>IMPACT &amp; BENEFITS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70BC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83680"/>
            <a:ext cx="7772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 Narrow"/>
              </a:rPr>
              <a:t>@ SIH26 - PREDICTIVE CYBER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7160" y="6583680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 Narrow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804672"/>
            <a:ext cx="11338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072854"/>
                </a:solidFill>
                <a:latin typeface="Arial"/>
              </a:rPr>
              <a:t>From a noisy alert queue to a forecast-led, explainable SOC decision.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1234440"/>
            <a:ext cx="4709160" cy="438912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289304"/>
            <a:ext cx="45262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870BC"/>
                </a:solidFill>
                <a:latin typeface="Arial Narrow"/>
              </a:rPr>
              <a:t>OPERATIONAL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82496"/>
            <a:ext cx="4187952" cy="31546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216"/>
              </a:spcAft>
              <a:defRPr sz="1200">
                <a:solidFill>
                  <a:srgbClr val="141414"/>
                </a:solidFill>
                <a:latin typeface="Arial"/>
              </a:defRPr>
            </a:pPr>
            <a:r>
              <a:t>• Lead time: forecast future risk across configurable K steps.</a:t>
            </a:r>
          </a:p>
          <a:p>
            <a:pPr>
              <a:spcAft>
                <a:spcPts val="216"/>
              </a:spcAft>
              <a:defRPr sz="1200">
                <a:solidFill>
                  <a:srgbClr val="141414"/>
                </a:solidFill>
                <a:latin typeface="Arial"/>
              </a:defRPr>
            </a:pPr>
            <a:r>
              <a:t>• Clarity: translate model output into MITRE ATT&amp;CK stages.</a:t>
            </a:r>
          </a:p>
          <a:p>
            <a:pPr>
              <a:spcAft>
                <a:spcPts val="216"/>
              </a:spcAft>
              <a:defRPr sz="1200">
                <a:solidFill>
                  <a:srgbClr val="141414"/>
                </a:solidFill>
                <a:latin typeface="Arial"/>
              </a:defRPr>
            </a:pPr>
            <a:r>
              <a:t>• Prioritization: combine forecast risk, stage severity and asset criticality.</a:t>
            </a:r>
          </a:p>
          <a:p>
            <a:pPr>
              <a:spcAft>
                <a:spcPts val="216"/>
              </a:spcAft>
              <a:defRPr sz="1200">
                <a:solidFill>
                  <a:srgbClr val="141414"/>
                </a:solidFill>
                <a:latin typeface="Arial"/>
              </a:defRPr>
            </a:pPr>
            <a:r>
              <a:t>• Explainability: show which network features drive the prediction.</a:t>
            </a:r>
          </a:p>
          <a:p>
            <a:pPr>
              <a:spcAft>
                <a:spcPts val="216"/>
              </a:spcAft>
              <a:defRPr sz="1200">
                <a:solidFill>
                  <a:srgbClr val="141414"/>
                </a:solidFill>
                <a:latin typeface="Arial"/>
              </a:defRPr>
            </a:pPr>
            <a:r>
              <a:t>• Governance: preserve alert acknowledgement and isolation actions in browser audit history.</a:t>
            </a:r>
          </a:p>
          <a:p>
            <a:pPr>
              <a:spcAft>
                <a:spcPts val="216"/>
              </a:spcAft>
              <a:defRPr sz="1200">
                <a:solidFill>
                  <a:srgbClr val="141414"/>
                </a:solidFill>
                <a:latin typeface="Arial"/>
              </a:defRPr>
            </a:pPr>
            <a:r>
              <a:t>• Resilience: keep inference local for sensitive government and CII environments.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1234440"/>
            <a:ext cx="6382512" cy="2148840"/>
          </a:xfrm>
          <a:prstGeom prst="roundRect">
            <a:avLst>
              <a:gd name="adj" fmla="val 8000"/>
            </a:avLst>
          </a:prstGeom>
          <a:solidFill>
            <a:srgbClr val="EFF9F1"/>
          </a:solidFill>
          <a:ln w="12700">
            <a:solidFill>
              <a:srgbClr val="007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0" y="1289304"/>
            <a:ext cx="61996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07A37"/>
                </a:solidFill>
                <a:latin typeface="Arial Narrow"/>
              </a:rPr>
              <a:t>EVIDENCE SNAPSHOT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1673352"/>
            <a:ext cx="182880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3000" b="1" i="0">
                <a:solidFill>
                  <a:srgbClr val="007A37"/>
                </a:solidFill>
                <a:latin typeface="Arial Narrow"/>
              </a:rPr>
              <a:t>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1764792"/>
            <a:ext cx="1645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072854"/>
                </a:solidFill>
                <a:latin typeface="Arial Narrow"/>
              </a:rPr>
              <a:t>forecast lead
windows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1673352"/>
            <a:ext cx="17373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500" b="1" i="0">
                <a:solidFill>
                  <a:srgbClr val="1870BC"/>
                </a:solidFill>
                <a:latin typeface="Arial Narrow"/>
              </a:rPr>
              <a:t>0.6313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54512" y="1764792"/>
            <a:ext cx="6217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1" i="0">
                <a:solidFill>
                  <a:srgbClr val="072854"/>
                </a:solidFill>
                <a:latin typeface="Arial Narrow"/>
              </a:rPr>
              <a:t>World
Model 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2578608"/>
            <a:ext cx="571500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 i="0">
                <a:solidFill>
                  <a:srgbClr val="BF2222"/>
                </a:solidFill>
                <a:latin typeface="Arial"/>
              </a:rPr>
              <a:t>Checked-in benchmark artifact: World Model recall 0.6212 vs baseline 0.6085; results require provenance verification before production claims.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94960" y="3639312"/>
            <a:ext cx="6382512" cy="1984248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0" y="3694176"/>
            <a:ext cx="6199632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9933"/>
                </a:solidFill>
                <a:latin typeface="Arial Narrow"/>
              </a:rPr>
              <a:t>HOW THE SOC WORKFLOW WORKS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0" y="4224528"/>
            <a:ext cx="1581912" cy="786384"/>
          </a:xfrm>
          <a:prstGeom prst="roundRect">
            <a:avLst>
              <a:gd name="adj" fmla="val 8000"/>
            </a:avLst>
          </a:prstGeom>
          <a:solidFill>
            <a:srgbClr val="1870BC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05856" y="4343400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Narrow"/>
              </a:rPr>
              <a:t>OBSERVE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24144" y="4572000"/>
            <a:ext cx="147218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Telemetry window
+ current risk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278624" y="4617720"/>
            <a:ext cx="292608" cy="0"/>
          </a:xfrm>
          <a:prstGeom prst="line">
            <a:avLst/>
          </a:prstGeom>
          <a:ln w="25400">
            <a:solidFill>
              <a:srgbClr val="072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662672" y="4224528"/>
            <a:ext cx="1581912" cy="786384"/>
          </a:xfrm>
          <a:prstGeom prst="roundRect">
            <a:avLst>
              <a:gd name="adj" fmla="val 8000"/>
            </a:avLst>
          </a:prstGeom>
          <a:solidFill>
            <a:srgbClr val="FF993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4343400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Narrow"/>
              </a:rPr>
              <a:t>FORECAST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17536" y="4572000"/>
            <a:ext cx="147218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K-step risk
trajectory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272016" y="4617720"/>
            <a:ext cx="292608" cy="0"/>
          </a:xfrm>
          <a:prstGeom prst="line">
            <a:avLst/>
          </a:prstGeom>
          <a:ln w="25400">
            <a:solidFill>
              <a:srgbClr val="0728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656064" y="4224528"/>
            <a:ext cx="1581912" cy="786384"/>
          </a:xfrm>
          <a:prstGeom prst="roundRect">
            <a:avLst>
              <a:gd name="adj" fmla="val 8000"/>
            </a:avLst>
          </a:prstGeom>
          <a:solidFill>
            <a:srgbClr val="007A37"/>
          </a:solidFill>
          <a:ln w="12700">
            <a:solidFill>
              <a:srgbClr val="007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92640" y="4343400"/>
            <a:ext cx="15087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 Narrow"/>
              </a:rPr>
              <a:t>ACT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928" y="4572000"/>
            <a:ext cx="1472184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Arial"/>
              </a:rPr>
              <a:t>Stage + asset
+ playbook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92608" y="45720"/>
            <a:ext cx="1828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000" b="1" i="0">
                <a:solidFill>
                  <a:srgbClr val="072854"/>
                </a:solidFill>
                <a:latin typeface="Arial Narrow"/>
              </a:rPr>
              <a:t>SIH26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347472"/>
            <a:ext cx="178308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900" b="1" i="0">
                <a:solidFill>
                  <a:srgbClr val="1870BC"/>
                </a:solidFill>
                <a:latin typeface="Arial Narrow"/>
              </a:rPr>
              <a:t>Predictive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91440"/>
            <a:ext cx="192024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072854"/>
                </a:solidFill>
                <a:latin typeface="Arial Narrow"/>
              </a:rPr>
              <a:t>SMART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84080" y="320040"/>
            <a:ext cx="210312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000" b="1" i="0">
                <a:solidFill>
                  <a:srgbClr val="5F6970"/>
                </a:solidFill>
                <a:latin typeface="Arial Narrow"/>
              </a:rPr>
              <a:t>HACKATHON 2025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9728"/>
            <a:ext cx="795527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2600" b="1" i="0">
                <a:solidFill>
                  <a:srgbClr val="1870BC"/>
                </a:solidFill>
                <a:latin typeface="Arial Narrow"/>
              </a:rPr>
              <a:t>RESEARCH, EVIDENCE &amp; ROADMAP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70BC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6583680"/>
            <a:ext cx="77724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Arial Narrow"/>
              </a:rPr>
              <a:t>@ SIH26 - PREDICTIVE CYBER DEFENSE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67160" y="6583680"/>
            <a:ext cx="320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Arial Narrow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822960"/>
            <a:ext cx="5440680" cy="2103120"/>
          </a:xfrm>
          <a:prstGeom prst="roundRect">
            <a:avLst>
              <a:gd name="adj" fmla="val 8000"/>
            </a:avLst>
          </a:prstGeom>
          <a:solidFill>
            <a:srgbClr val="E8F2FA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877824"/>
            <a:ext cx="5257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870BC"/>
                </a:solidFill>
                <a:latin typeface="Arial Narrow"/>
              </a:rPr>
              <a:t>IMPLEMENTED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261872"/>
            <a:ext cx="4937760" cy="13258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FastAPI routes: scenario, upload, forecast, MITRE, XAI, SOC, benchmark and report.</a:t>
            </a:r>
          </a:p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Eight dashboard views: Forecast, ATT&amp;CK, XAI, K-step, SOC, Benchmark, Topology and Audit.</a:t>
            </a:r>
          </a:p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Automated tests cover forecasting, parsing, routes, evaluation, XAI and prioritization.</a:t>
            </a:r>
          </a:p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Docker Compose provides reproducible local deployment.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08192" y="822960"/>
            <a:ext cx="5669280" cy="2103120"/>
          </a:xfrm>
          <a:prstGeom prst="roundRect">
            <a:avLst>
              <a:gd name="adj" fmla="val 8000"/>
            </a:avLst>
          </a:prstGeom>
          <a:solidFill>
            <a:srgbClr val="EFF9F1"/>
          </a:solidFill>
          <a:ln w="12700">
            <a:solidFill>
              <a:srgbClr val="007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1" y="877824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07A37"/>
                </a:solidFill>
                <a:latin typeface="Arial Narrow"/>
              </a:rPr>
              <a:t>RESEARCH BASIS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261872"/>
            <a:ext cx="5166360" cy="1325880"/>
          </a:xfrm>
          <a:prstGeom prst="rect">
            <a:avLst/>
          </a:prstGeom>
          <a:noFill/>
        </p:spPr>
        <p:txBody>
          <a:bodyPr wrap="square" lIns="54864" rIns="36576" tIns="18288" bIns="18288">
            <a:spAutoFit/>
          </a:bodyPr>
          <a:lstStyle/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World-model framing: learn transition dynamics P(S(t+1) | S(t)).</a:t>
            </a:r>
          </a:p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Temporal sequence learning with a two-layer LSTM.</a:t>
            </a:r>
          </a:p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Captum GradientShap for local feature attribution.</a:t>
            </a:r>
          </a:p>
          <a:p>
            <a:pPr>
              <a:spcAft>
                <a:spcPts val="216"/>
              </a:spcAft>
              <a:defRPr sz="1000">
                <a:solidFill>
                  <a:srgbClr val="141414"/>
                </a:solidFill>
                <a:latin typeface="Arial"/>
              </a:defRPr>
            </a:pPr>
            <a:r>
              <a:t>• MITRE ATT&amp;CK vocabulary for analyst-facing interpretation.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3218688"/>
            <a:ext cx="113385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500" b="1" i="0">
                <a:solidFill>
                  <a:srgbClr val="072854"/>
                </a:solidFill>
                <a:latin typeface="Arial Narrow"/>
              </a:rPr>
              <a:t>WINNING PATH: PROVE, HARDEN, INTEGRATE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03320"/>
            <a:ext cx="352044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858768"/>
            <a:ext cx="548640" cy="548640"/>
          </a:xfrm>
          <a:prstGeom prst="roundRect">
            <a:avLst>
              <a:gd name="adj" fmla="val 8000"/>
            </a:avLst>
          </a:prstGeom>
          <a:solidFill>
            <a:srgbClr val="1870BC"/>
          </a:solidFill>
          <a:ln w="12700">
            <a:solidFill>
              <a:srgbClr val="1870B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014215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Narrow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822191"/>
            <a:ext cx="24231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1870BC"/>
                </a:solidFill>
                <a:latin typeface="Arial Narrow"/>
              </a:rPr>
              <a:t>PROVE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160520"/>
            <a:ext cx="245059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41414"/>
                </a:solidFill>
                <a:latin typeface="Arial"/>
              </a:rPr>
              <a:t>Re-run on verified CIC-IDS-2018 data; publish a versioned benchmark and model manifest.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703320"/>
            <a:ext cx="352044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526280" y="3858768"/>
            <a:ext cx="548640" cy="548640"/>
          </a:xfrm>
          <a:prstGeom prst="roundRect">
            <a:avLst>
              <a:gd name="adj" fmla="val 8000"/>
            </a:avLst>
          </a:prstGeom>
          <a:solidFill>
            <a:srgbClr val="FF9933"/>
          </a:solidFill>
          <a:ln w="12700">
            <a:solidFill>
              <a:srgbClr val="FF99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4014215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Narrow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822191"/>
            <a:ext cx="24231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FF9933"/>
                </a:solidFill>
                <a:latin typeface="Arial Narrow"/>
              </a:rPr>
              <a:t>HARDEN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4160520"/>
            <a:ext cx="245059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41414"/>
                </a:solidFill>
                <a:latin typeface="Arial"/>
              </a:rPr>
              <a:t>Add authentication, rate limits, asynchronous upload jobs and production observability.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703320"/>
            <a:ext cx="3520440" cy="14447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07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12480" y="3858768"/>
            <a:ext cx="548640" cy="548640"/>
          </a:xfrm>
          <a:prstGeom prst="roundRect">
            <a:avLst>
              <a:gd name="adj" fmla="val 8000"/>
            </a:avLst>
          </a:prstGeom>
          <a:solidFill>
            <a:srgbClr val="007A37"/>
          </a:solidFill>
          <a:ln w="12700">
            <a:solidFill>
              <a:srgbClr val="007A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0" y="4014215"/>
            <a:ext cx="5486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Arial Narrow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3822191"/>
            <a:ext cx="2423160" cy="246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 i="0">
                <a:solidFill>
                  <a:srgbClr val="007A37"/>
                </a:solidFill>
                <a:latin typeface="Arial Narrow"/>
              </a:rPr>
              <a:t>INTEGRATE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4160520"/>
            <a:ext cx="2450592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 i="0">
                <a:solidFill>
                  <a:srgbClr val="141414"/>
                </a:solidFill>
                <a:latin typeface="Arial"/>
              </a:rPr>
              <a:t>Connect approved EDR, SOAR, SIEM and firewall adapters with human-in-the-loop controls.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532120"/>
            <a:ext cx="10972800" cy="3931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 i="0">
                <a:solidFill>
                  <a:srgbClr val="5F6970"/>
                </a:solidFill>
                <a:latin typeface="Arial"/>
              </a:rPr>
              <a:t>References: repository README and audit reports | backend tests | benchmark_report.json | MITRE ATT&amp;CK | Captum / PyTorch documentation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961888"/>
            <a:ext cx="109728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 i="0">
                <a:solidFill>
                  <a:srgbClr val="007A37"/>
                </a:solidFill>
                <a:latin typeface="Arial"/>
              </a:rPr>
              <a:t>The differentiator: forecast the next state, explain why, prioritize what matters, and preserve the decision.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